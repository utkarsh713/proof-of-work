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31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3A6B"/>
                </a:solidFill>
              </a:rPr>
              <a:t>Public Works Dashboard — 128 Total Works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EA043"/>
              </a:solidFill>
            </c:spPr>
            <c:extLst>
              <c:ext xmlns:c16="http://schemas.microsoft.com/office/drawing/2014/chart" uri="{C3380CC4-5D6E-409C-BE32-E72D297353CC}">
                <c16:uniqueId val="{00000001-7B99-46D6-AA50-3C3933E7073D}"/>
              </c:ext>
            </c:extLst>
          </c:dPt>
          <c:dPt>
            <c:idx val="1"/>
            <c:invertIfNegative val="1"/>
            <c:bubble3D val="0"/>
            <c:spPr>
              <a:solidFill>
                <a:srgbClr val="D98E0B"/>
              </a:solidFill>
            </c:spPr>
            <c:extLst>
              <c:ext xmlns:c16="http://schemas.microsoft.com/office/drawing/2014/chart" uri="{C3380CC4-5D6E-409C-BE32-E72D297353CC}">
                <c16:uniqueId val="{00000003-7B99-46D6-AA50-3C3933E7073D}"/>
              </c:ext>
            </c:extLst>
          </c:dPt>
          <c:dPt>
            <c:idx val="2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5-7B99-46D6-AA50-3C3933E7073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B3A6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Verified</c:v>
                </c:pt>
                <c:pt idx="1">
                  <c:v>Pending</c:v>
                </c:pt>
                <c:pt idx="2">
                  <c:v>Flagged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22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B99-46D6-AA50-3C3933E707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300">
                <a:solidFill>
                  <a:srgbClr val="1B3A6B"/>
                </a:solidFill>
              </a:rPr>
              <a:t>E-Governance / GovTech Momentum (Illustrative)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GovTech adoption index</c:v>
                </c:pt>
              </c:strCache>
            </c:strRef>
          </c:tx>
          <c:spPr>
            <a:ln w="34925">
              <a:solidFill>
                <a:srgbClr val="0E8A7D"/>
              </a:solidFill>
            </a:ln>
          </c:spP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1B3A6B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48</c:v>
                </c:pt>
                <c:pt idx="2">
                  <c:v>62</c:v>
                </c:pt>
                <c:pt idx="3">
                  <c:v>78</c:v>
                </c:pt>
                <c:pt idx="4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24-4003-A5EB-4D64DA0452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D5C09-D74D-4282-ACBC-3F6E025F003A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D6B54-78E9-4325-8316-7104C41D9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61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D6B54-78E9-4325-8316-7104C41D94A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26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D6B54-78E9-4325-8316-7104C41D94A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69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D6B54-78E9-4325-8316-7104C41D94A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360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822960"/>
            <a:ext cx="2377440" cy="2377440"/>
          </a:xfrm>
          <a:prstGeom prst="ellipse">
            <a:avLst/>
          </a:prstGeom>
          <a:noFill/>
          <a:ln w="19050">
            <a:solidFill>
              <a:srgbClr val="E3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46919" y="1143000"/>
            <a:ext cx="1645920" cy="1645920"/>
          </a:xfrm>
          <a:prstGeom prst="ellipse">
            <a:avLst/>
          </a:prstGeom>
          <a:noFill/>
          <a:ln w="19050">
            <a:solidFill>
              <a:srgbClr val="D3E9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66959" y="1463040"/>
            <a:ext cx="1005840" cy="1005840"/>
          </a:xfrm>
          <a:prstGeom prst="ellipse">
            <a:avLst/>
          </a:prstGeom>
          <a:solidFill>
            <a:srgbClr val="0E8A7D"/>
          </a:solidFill>
          <a:ln w="15875">
            <a:solidFill>
              <a:srgbClr val="0E8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08286"/>
            <a:ext cx="73152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1300" b="1" dirty="0">
                <a:solidFill>
                  <a:srgbClr val="0E8A7D"/>
                </a:solidFill>
                <a:latin typeface="Calibri"/>
              </a:rPr>
              <a:t>CODEWARS </a:t>
            </a:r>
            <a:r>
              <a:rPr sz="1300" b="1">
                <a:solidFill>
                  <a:srgbClr val="0E8A7D"/>
                </a:solidFill>
                <a:latin typeface="Calibri"/>
              </a:rPr>
              <a:t>HACKATHON</a:t>
            </a:r>
            <a:endParaRPr sz="1300" b="1" dirty="0">
              <a:solidFill>
                <a:srgbClr val="0E8A7D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1824335"/>
            <a:ext cx="10058400" cy="923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400" b="1" dirty="0">
                <a:solidFill>
                  <a:srgbClr val="1B3A6B"/>
                </a:solidFill>
                <a:latin typeface="Calibri"/>
              </a:rPr>
              <a:t>PROOF</a:t>
            </a:r>
            <a:r>
              <a:rPr lang="en-IN" sz="5400" b="1">
                <a:solidFill>
                  <a:srgbClr val="1B3A6B"/>
                </a:solidFill>
                <a:latin typeface="Calibri"/>
              </a:rPr>
              <a:t> </a:t>
            </a:r>
            <a:r>
              <a:rPr sz="5400" b="1">
                <a:solidFill>
                  <a:srgbClr val="1B3A6B"/>
                </a:solidFill>
                <a:latin typeface="Calibri"/>
              </a:rPr>
              <a:t>OF</a:t>
            </a:r>
            <a:r>
              <a:rPr lang="en-IN" sz="5400" b="1" dirty="0">
                <a:solidFill>
                  <a:srgbClr val="1B3A6B"/>
                </a:solidFill>
                <a:latin typeface="Calibri"/>
              </a:rPr>
              <a:t> </a:t>
            </a:r>
            <a:r>
              <a:rPr sz="5400" b="1" dirty="0">
                <a:solidFill>
                  <a:srgbClr val="1B3A6B"/>
                </a:solidFill>
                <a:latin typeface="Calibri"/>
              </a:rPr>
              <a:t>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222B35"/>
                </a:solidFill>
                <a:latin typeface="Calibri"/>
              </a:rPr>
              <a:t>AI-Powered Verification for Public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11880"/>
            <a:ext cx="8778240" cy="9601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0">
                <a:solidFill>
                  <a:srgbClr val="1B3A6B"/>
                </a:solidFill>
                <a:latin typeface="Calibri"/>
              </a:rPr>
              <a:t>“Turning trust-based verification into evidence-based, AI-assisted,</a:t>
            </a:r>
          </a:p>
          <a:p>
            <a:pPr algn="l"/>
            <a:r>
              <a:rPr sz="1500" b="0">
                <a:solidFill>
                  <a:srgbClr val="1B3A6B"/>
                </a:solidFill>
                <a:latin typeface="Calibri"/>
              </a:rPr>
              <a:t>citizen-verified verification.”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12521"/>
            <a:ext cx="9144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5A6470"/>
                </a:solidFill>
                <a:latin typeface="Calibri"/>
              </a:rPr>
              <a:t>Team   </a:t>
            </a:r>
            <a:r>
              <a:rPr sz="1400" b="1" dirty="0">
                <a:solidFill>
                  <a:srgbClr val="1B3A6B"/>
                </a:solidFill>
                <a:latin typeface="Calibri"/>
              </a:rPr>
              <a:t>Utkarsh · Anjali · Sujal · Sara</a:t>
            </a:r>
            <a:r>
              <a:rPr lang="en-IN" sz="1400" b="1" dirty="0">
                <a:solidFill>
                  <a:srgbClr val="1B3A6B"/>
                </a:solidFill>
                <a:latin typeface="Calibri"/>
              </a:rPr>
              <a:t>t</a:t>
            </a:r>
            <a:endParaRPr sz="1400" b="1" dirty="0">
              <a:solidFill>
                <a:srgbClr val="1B3A6B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033992"/>
            <a:ext cx="91440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dirty="0">
                <a:solidFill>
                  <a:srgbClr val="5A6470"/>
                </a:solidFill>
                <a:latin typeface="Calibri"/>
              </a:rPr>
              <a:t>G</a:t>
            </a:r>
            <a:r>
              <a:rPr lang="en-IN" sz="1300" b="1" dirty="0">
                <a:solidFill>
                  <a:srgbClr val="5A6470"/>
                </a:solidFill>
                <a:latin typeface="Calibri"/>
              </a:rPr>
              <a:t>roup Name</a:t>
            </a:r>
            <a:r>
              <a:rPr sz="1300" b="1" dirty="0">
                <a:solidFill>
                  <a:srgbClr val="5A6470"/>
                </a:solidFill>
                <a:latin typeface="Calibri"/>
              </a:rPr>
              <a:t>   </a:t>
            </a:r>
            <a:r>
              <a:rPr lang="en-IN" sz="1300" b="0" dirty="0">
                <a:solidFill>
                  <a:srgbClr val="0E8A7D"/>
                </a:solidFill>
                <a:latin typeface="Calibri"/>
              </a:rPr>
              <a:t>ProofForge</a:t>
            </a:r>
            <a:endParaRPr sz="1300" b="0" dirty="0">
              <a:solidFill>
                <a:srgbClr val="0E8A7D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5A6470"/>
                </a:solidFill>
                <a:latin typeface="Calibri"/>
              </a:rPr>
              <a:t>Stack   </a:t>
            </a:r>
            <a:r>
              <a:rPr sz="1300" b="0">
                <a:solidFill>
                  <a:srgbClr val="222B35"/>
                </a:solidFill>
                <a:latin typeface="Calibri"/>
              </a:rPr>
              <a:t>React · Spring Boot · PostgreSQL · Python + OpenCV · Google Maps API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2917D78-9065-F664-1E04-12EAC93F0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249"/>
            <a:ext cx="1101742" cy="73449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094661F-7DAE-CD17-015E-712C5CC79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667" y="68254"/>
            <a:ext cx="1441160" cy="9607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55336B-4706-DE66-CC67-D13210110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656" y="13965"/>
            <a:ext cx="850143" cy="850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Public Works Verification Today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Fake Evidence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Completion photos are staged,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edited, or manipulated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9164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Wrong Location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Photos submitted from a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different site than registered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Reused Photos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Old photographs passed off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as new completion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91640"/>
            <a:ext cx="2606040" cy="13716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No Transparency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Citizens cannot verify what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their taxes actually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83280"/>
            <a:ext cx="10744200" cy="41148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19856"/>
            <a:ext cx="7315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TRADITIONAL PROCESS — TRUST-BASED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1938528" cy="658368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B3A6B"/>
                </a:solidFill>
                <a:latin typeface="Calibri"/>
              </a:rPr>
              <a:t>Approve Work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88336" y="4306824"/>
            <a:ext cx="228600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35224" y="3977639"/>
            <a:ext cx="1938528" cy="658368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B3A6B"/>
                </a:solidFill>
                <a:latin typeface="Calibri"/>
              </a:rPr>
              <a:t>Contractor Works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92040" y="4306824"/>
            <a:ext cx="228600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38928" y="3977639"/>
            <a:ext cx="1938528" cy="658368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B3A6B"/>
                </a:solidFill>
                <a:latin typeface="Calibri"/>
              </a:rPr>
              <a:t>Submits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4306824"/>
            <a:ext cx="228600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42632" y="3977639"/>
            <a:ext cx="1938528" cy="658368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B3A6B"/>
                </a:solidFill>
                <a:latin typeface="Calibri"/>
              </a:rPr>
              <a:t>Manual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99448" y="4306824"/>
            <a:ext cx="228600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46336" y="3977639"/>
            <a:ext cx="1938528" cy="658368"/>
          </a:xfrm>
          <a:prstGeom prst="roundRect">
            <a:avLst/>
          </a:prstGeom>
          <a:solidFill>
            <a:srgbClr val="F2F6FA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B3A6B"/>
                </a:solidFill>
                <a:latin typeface="Calibri"/>
              </a:rPr>
              <a:t>Marked Complete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37760"/>
            <a:ext cx="10744200" cy="868680"/>
          </a:xfrm>
          <a:prstGeom prst="roundRect">
            <a:avLst/>
          </a:prstGeom>
          <a:solidFill>
            <a:srgbClr val="FB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C0392B"/>
                </a:solidFill>
                <a:latin typeface="Calibri"/>
              </a:rPr>
              <a:t>⚠  Weakness:  </a:t>
            </a:r>
            <a:r>
              <a:rPr sz="1400" b="0">
                <a:solidFill>
                  <a:srgbClr val="222B35"/>
                </a:solidFill>
                <a:latin typeface="Calibri"/>
              </a:rPr>
              <a:t>heavy dependence on manual inspection and contractor-submitted evidence — easily gamed, slow, and costly.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10744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70"/>
                </a:solidFill>
                <a:latin typeface="Calibri"/>
              </a:rPr>
              <a:t>Manual inspection requires significant time and resources — and still misses fraud.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449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A Multi-Layer Digital Verification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70"/>
                </a:solidFill>
                <a:latin typeface="Calibri"/>
              </a:rPr>
              <a:t>Instead of trusting one photo, we verify where, when, what changed — and whether citizens confirm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487168" cy="621792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Register Public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83080"/>
            <a:ext cx="2487168" cy="621792"/>
          </a:xfrm>
          <a:prstGeom prst="roundRect">
            <a:avLst/>
          </a:prstGeom>
          <a:solidFill>
            <a:srgbClr val="3D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Before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2487168" cy="621792"/>
          </a:xfrm>
          <a:prstGeom prst="roundRect">
            <a:avLst/>
          </a:prstGeom>
          <a:solidFill>
            <a:srgbClr val="3D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After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783080"/>
            <a:ext cx="2487168" cy="621792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GPS + Timestamp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264408"/>
            <a:ext cx="2487168" cy="621792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Image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64408"/>
            <a:ext cx="2487168" cy="621792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Calibri"/>
              </a:rPr>
              <a:t>Citizen</a:t>
            </a:r>
            <a:r>
              <a:rPr lang="en-IN" sz="1300" b="1" dirty="0">
                <a:solidFill>
                  <a:srgbClr val="FFFFFF"/>
                </a:solidFill>
                <a:latin typeface="Calibri"/>
              </a:rPr>
              <a:t> Feedback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4720" y="3264408"/>
            <a:ext cx="2487168" cy="621792"/>
          </a:xfrm>
          <a:prstGeom prst="roundRect">
            <a:avLst/>
          </a:prstGeom>
          <a:solidFill>
            <a:srgbClr val="3D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Final Verification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64408"/>
            <a:ext cx="2487168" cy="621792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Public Dashboard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36976" y="2093976"/>
            <a:ext cx="219456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980176" y="2093976"/>
            <a:ext cx="219456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23376" y="2093976"/>
            <a:ext cx="219456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04704" y="2432303"/>
            <a:ext cx="0" cy="804673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723376" y="3575304"/>
            <a:ext cx="219456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980175" y="3575304"/>
            <a:ext cx="219456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236975" y="3575304"/>
            <a:ext cx="219456" cy="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5029200"/>
            <a:ext cx="2606040" cy="11430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0E8A7D"/>
                </a:solidFill>
                <a:latin typeface="Calibri"/>
              </a:rPr>
              <a:t>WHERE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GPS proximity check — evidence captured within an accepted radius of the registered site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5029200"/>
            <a:ext cx="2606040" cy="11430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0E8A7D"/>
                </a:solidFill>
                <a:latin typeface="Calibri"/>
              </a:rPr>
              <a:t>WHEN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Timestamp consistency — after-image cannot predate the work start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029200"/>
            <a:ext cx="2606040" cy="11430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0E8A7D"/>
                </a:solidFill>
                <a:latin typeface="Calibri"/>
              </a:rPr>
              <a:t>WHAT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AI change detection — does the after photo show real, meaningful completion?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5029200"/>
            <a:ext cx="2606040" cy="1143000"/>
          </a:xfrm>
          <a:prstGeom prst="roundRect">
            <a:avLst>
              <a:gd name="adj" fmla="val 7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rtlCol="0" anchor="t"/>
          <a:lstStyle/>
          <a:p>
            <a:pPr algn="ctr"/>
            <a:r>
              <a:rPr sz="1400" b="1">
                <a:solidFill>
                  <a:srgbClr val="0E8A7D"/>
                </a:solidFill>
                <a:latin typeface="Calibri"/>
              </a:rPr>
              <a:t>WHO</a:t>
            </a:r>
          </a:p>
          <a:p>
            <a:r>
              <a:rPr sz="1150">
                <a:solidFill>
                  <a:srgbClr val="222B35"/>
                </a:solidFill>
                <a:latin typeface="Calibri"/>
              </a:rPr>
              <a:t>Citizen confirmation — the human layer on top of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AI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Evidence Analysis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60704"/>
            <a:ext cx="10972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A6470"/>
                </a:solidFill>
                <a:latin typeface="Calibri"/>
              </a:rPr>
              <a:t>Python + OpenCV · MVP priority: change detection + image quality + duplicate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108960" cy="566928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Before / After Images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2313432"/>
            <a:ext cx="0" cy="18288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514600"/>
            <a:ext cx="3108960" cy="566928"/>
          </a:xfrm>
          <a:prstGeom prst="roundRect">
            <a:avLst/>
          </a:prstGeom>
          <a:solidFill>
            <a:srgbClr val="3D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Image Analysis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090672"/>
            <a:ext cx="0" cy="18288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291840"/>
            <a:ext cx="3108960" cy="566928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Change Detection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867912"/>
            <a:ext cx="0" cy="182879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4069080"/>
            <a:ext cx="3108960" cy="566928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Quality Checking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45152"/>
            <a:ext cx="0" cy="18288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1520" y="4846320"/>
            <a:ext cx="3108960" cy="566928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Duplicate Detection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5422392"/>
            <a:ext cx="0" cy="18288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5623559"/>
            <a:ext cx="3108960" cy="566928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Verification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737360"/>
            <a:ext cx="3657600" cy="22860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GPS CHECK — EXAMPLE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Registered:   28.4744, 77.5040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Evidence:      28.4748, 77.5037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Distance:      ~40 meters</a:t>
            </a:r>
          </a:p>
          <a:p>
            <a:pPr algn="l"/>
            <a:r>
              <a:rPr sz="1250" b="1">
                <a:solidFill>
                  <a:srgbClr val="2EA043"/>
                </a:solidFill>
                <a:latin typeface="Calibri"/>
              </a:rPr>
              <a:t>Result:          PASS (within radius)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206240"/>
            <a:ext cx="3657600" cy="21488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TIMESTAMP CHECK</a:t>
            </a:r>
          </a:p>
          <a:p>
            <a:pPr algn="l"/>
            <a:r>
              <a:rPr sz="1150" b="0">
                <a:solidFill>
                  <a:srgbClr val="222B35"/>
                </a:solidFill>
                <a:latin typeface="Calibri"/>
              </a:rPr>
              <a:t>Start 01 Aug · Before 02 Aug · After 28 Aug</a:t>
            </a:r>
          </a:p>
          <a:p>
            <a:pPr algn="l"/>
            <a:r>
              <a:rPr sz="1200" b="1">
                <a:solidFill>
                  <a:srgbClr val="2EA043"/>
                </a:solidFill>
                <a:latin typeface="Calibri"/>
              </a:rPr>
              <a:t>→ VALID</a:t>
            </a:r>
          </a:p>
          <a:p>
            <a:pPr algn="l"/>
            <a:r>
              <a:rPr sz="1150" b="0">
                <a:solidFill>
                  <a:srgbClr val="222B35"/>
                </a:solidFill>
                <a:latin typeface="Calibri"/>
              </a:rPr>
              <a:t>After-image dated 25 July (before start)</a:t>
            </a:r>
          </a:p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→ SUSPICIOUS — flagged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737360"/>
            <a:ext cx="3246120" cy="283464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tlCol="0" anchor="t"/>
          <a:lstStyle/>
          <a:p>
            <a:pPr algn="ctr"/>
            <a:r>
              <a:rPr sz="1300">
                <a:solidFill>
                  <a:srgbClr val="9EC5FE"/>
                </a:solidFill>
                <a:latin typeface="Consolas"/>
              </a:rPr>
              <a:t>{</a:t>
            </a:r>
          </a:p>
          <a:p>
            <a:r>
              <a:rPr sz="1300">
                <a:solidFill>
                  <a:srgbClr val="7FE0A8"/>
                </a:solidFill>
                <a:latin typeface="Consolas"/>
              </a:rPr>
              <a:t>  "status": "VERIFIED",</a:t>
            </a:r>
          </a:p>
          <a:p>
            <a:r>
              <a:rPr sz="1300">
                <a:solidFill>
                  <a:srgbClr val="FFD18A"/>
                </a:solidFill>
                <a:latin typeface="Consolas"/>
              </a:rPr>
              <a:t>  "confidence": 0.91,</a:t>
            </a:r>
          </a:p>
          <a:p>
            <a:r>
              <a:rPr sz="1300">
                <a:solidFill>
                  <a:srgbClr val="9EC5FE"/>
                </a:solidFill>
                <a:latin typeface="Consolas"/>
              </a:rPr>
              <a:t>  "change_detected": true,</a:t>
            </a:r>
          </a:p>
          <a:p>
            <a:r>
              <a:rPr sz="1300">
                <a:solidFill>
                  <a:srgbClr val="7FE0A8"/>
                </a:solidFill>
                <a:latin typeface="Consolas"/>
              </a:rPr>
              <a:t>  "image_quality": "good"</a:t>
            </a:r>
          </a:p>
          <a:p>
            <a:r>
              <a:rPr sz="1300">
                <a:solidFill>
                  <a:srgbClr val="9EC5FE"/>
                </a:solidFill>
                <a:latin typeface="Consolas"/>
              </a:rPr>
              <a:t>}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754880"/>
            <a:ext cx="3246120" cy="160020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AI OUTPUT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Verification score feeds the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decision engine together with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GPS, timestamp &amp; citizen votes.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Technology Stack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926080" cy="77724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React Frontend</a:t>
            </a:r>
          </a:p>
          <a:p>
            <a:pPr algn="ctr"/>
            <a:r>
              <a:rPr sz="1000" b="0">
                <a:solidFill>
                  <a:srgbClr val="C9D8EC"/>
                </a:solidFill>
                <a:latin typeface="Calibri"/>
              </a:rPr>
              <a:t>Dashboard · Uploads · Citizen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578608"/>
            <a:ext cx="0" cy="45720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331720" y="2670048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0E8A7D"/>
                </a:solidFill>
                <a:latin typeface="Calibri"/>
              </a:rPr>
              <a:t>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2926080" cy="777240"/>
          </a:xfrm>
          <a:prstGeom prst="roundRect">
            <a:avLst/>
          </a:prstGeom>
          <a:solidFill>
            <a:srgbClr val="3D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Spring Boot Backend</a:t>
            </a:r>
          </a:p>
          <a:p>
            <a:pPr algn="ctr"/>
            <a:r>
              <a:rPr sz="1000" b="0">
                <a:solidFill>
                  <a:srgbClr val="C9D8EC"/>
                </a:solidFill>
                <a:latin typeface="Calibri"/>
              </a:rPr>
              <a:t>APIs · Auth · Business Logic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54480" y="3858768"/>
            <a:ext cx="0" cy="45720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834640" y="3858768"/>
            <a:ext cx="0" cy="45720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4343400"/>
            <a:ext cx="2103120" cy="777240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950" b="0">
                <a:solidFill>
                  <a:srgbClr val="D8F0EA"/>
                </a:solidFill>
                <a:latin typeface="Calibri"/>
              </a:rPr>
              <a:t>works · evidence · users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343400"/>
            <a:ext cx="2103120" cy="777240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Python AI Service</a:t>
            </a:r>
          </a:p>
          <a:p>
            <a:pPr algn="ctr"/>
            <a:r>
              <a:rPr sz="950" b="0">
                <a:solidFill>
                  <a:srgbClr val="D8F0EA"/>
                </a:solidFill>
                <a:latin typeface="Calibri"/>
              </a:rPr>
              <a:t>OpenCV · /verify-evidence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94760" y="5138928"/>
            <a:ext cx="0" cy="457200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5623560"/>
            <a:ext cx="2103120" cy="640080"/>
          </a:xfrm>
          <a:prstGeom prst="roundRect">
            <a:avLst/>
          </a:prstGeom>
          <a:solidFill>
            <a:srgbClr val="E3EEF6"/>
          </a:solidFill>
          <a:ln w="158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1B3A6B"/>
                </a:solidFill>
                <a:latin typeface="Calibri"/>
              </a:rPr>
              <a:t>Image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623560"/>
            <a:ext cx="2103120" cy="640080"/>
          </a:xfrm>
          <a:prstGeom prst="roundRect">
            <a:avLst/>
          </a:prstGeom>
          <a:solidFill>
            <a:srgbClr val="D3E9E4"/>
          </a:solidFill>
          <a:ln w="15875">
            <a:solidFill>
              <a:srgbClr val="0E8A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0E8A7D"/>
                </a:solidFill>
                <a:latin typeface="Calibri"/>
              </a:rPr>
              <a:t>Google Maps API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554480" y="5138928"/>
            <a:ext cx="0" cy="484632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0" y="1783080"/>
            <a:ext cx="5760720" cy="3108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tlCol="0" anchor="t"/>
          <a:lstStyle/>
          <a:p>
            <a:pPr algn="ctr"/>
            <a:r>
              <a:rPr sz="1300" b="1">
                <a:solidFill>
                  <a:srgbClr val="0E8A7D"/>
                </a:solidFill>
                <a:latin typeface="Calibri"/>
              </a:rPr>
              <a:t>TECHNOLOGY STACK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B3A6B"/>
                </a:solidFill>
                <a:latin typeface="Calibri"/>
              </a:rPr>
              <a:t>Frontend    </a:t>
            </a:r>
            <a:r>
              <a:rPr sz="1400">
                <a:solidFill>
                  <a:srgbClr val="222B35"/>
                </a:solidFill>
                <a:latin typeface="Calibri"/>
              </a:rPr>
              <a:t>   React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B3A6B"/>
                </a:solidFill>
                <a:latin typeface="Calibri"/>
              </a:rPr>
              <a:t>Backend     </a:t>
            </a:r>
            <a:r>
              <a:rPr sz="1400">
                <a:solidFill>
                  <a:srgbClr val="222B35"/>
                </a:solidFill>
                <a:latin typeface="Calibri"/>
              </a:rPr>
              <a:t>   Spring Boot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B3A6B"/>
                </a:solidFill>
                <a:latin typeface="Calibri"/>
              </a:rPr>
              <a:t>Database    </a:t>
            </a:r>
            <a:r>
              <a:rPr sz="1400">
                <a:solidFill>
                  <a:srgbClr val="222B35"/>
                </a:solidFill>
                <a:latin typeface="Calibri"/>
              </a:rPr>
              <a:t>   PostgreSQL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B3A6B"/>
                </a:solidFill>
                <a:latin typeface="Calibri"/>
              </a:rPr>
              <a:t>AI / ML     </a:t>
            </a:r>
            <a:r>
              <a:rPr sz="1400">
                <a:solidFill>
                  <a:srgbClr val="222B35"/>
                </a:solidFill>
                <a:latin typeface="Calibri"/>
              </a:rPr>
              <a:t>   Python + OpenCV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1B3A6B"/>
                </a:solidFill>
                <a:latin typeface="Calibri"/>
              </a:rPr>
              <a:t>Maps        </a:t>
            </a:r>
            <a:r>
              <a:rPr sz="1400">
                <a:solidFill>
                  <a:srgbClr val="222B35"/>
                </a:solidFill>
                <a:latin typeface="Calibri"/>
              </a:rPr>
              <a:t>   Google Maps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0" y="5120640"/>
            <a:ext cx="5760720" cy="1143000"/>
          </a:xfrm>
          <a:prstGeom prst="roundRect">
            <a:avLst/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250" b="1">
                <a:solidFill>
                  <a:srgbClr val="0E8A7D"/>
                </a:solidFill>
                <a:latin typeface="Calibri"/>
              </a:rPr>
              <a:t>Why this stack:  </a:t>
            </a:r>
            <a:r>
              <a:rPr sz="1250" b="0">
                <a:solidFill>
                  <a:srgbClr val="222B35"/>
                </a:solidFill>
                <a:latin typeface="Calibri"/>
              </a:rPr>
              <a:t>mature, hackathon-proven technologies with clean separation — React → Spring Boot → PostgreSQL, and Spring Boot → Python/OpenCV for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DECISION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Verification Logic &amp; Live Dashboard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120640" cy="196596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46304" rtlCol="0" anchor="t"/>
          <a:lstStyle/>
          <a:p>
            <a:pPr algn="ctr">
              <a:spcBef>
                <a:spcPts val="600"/>
              </a:spcBef>
            </a:pPr>
            <a:r>
              <a:rPr sz="1300" b="1">
                <a:solidFill>
                  <a:srgbClr val="1B3A6B"/>
                </a:solidFill>
                <a:latin typeface="Calibri"/>
              </a:rPr>
              <a:t>FINAL STATUS = fusion of all signals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22B35"/>
                </a:solidFill>
                <a:latin typeface="Calibri"/>
              </a:rPr>
              <a:t>GPS PASS  +  Timestamp VALID  +  AI score ≥ threshold  +  Citizen majority YES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2EA043"/>
                </a:solidFill>
                <a:latin typeface="Calibri"/>
              </a:rPr>
              <a:t>→  ✅  VERIFIED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222B35"/>
                </a:solidFill>
                <a:latin typeface="Calibri"/>
              </a:rPr>
              <a:t>Any signal fails or is inconclusive  →  ⏳ PENDING  or  🚩 FLAGGED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914400"/>
          </a:xfrm>
          <a:prstGeom prst="roundRect">
            <a:avLst/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250" b="1">
                <a:solidFill>
                  <a:srgbClr val="0E8A7D"/>
                </a:solidFill>
                <a:latin typeface="Calibri"/>
              </a:rPr>
              <a:t>Verification rates:  </a:t>
            </a:r>
            <a:r>
              <a:rPr sz="1350" b="1">
                <a:solidFill>
                  <a:srgbClr val="1B3A6B"/>
                </a:solidFill>
                <a:latin typeface="Calibri"/>
              </a:rPr>
              <a:t>AI 87%   ·   GPS 94%   ·   Citizen 82%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120640" cy="118872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250" b="1">
                <a:solidFill>
                  <a:srgbClr val="0E8A7D"/>
                </a:solidFill>
                <a:latin typeface="Calibri"/>
              </a:rPr>
              <a:t>Why it matters:  </a:t>
            </a:r>
            <a:r>
              <a:rPr sz="1250" b="0">
                <a:solidFill>
                  <a:srgbClr val="222B35"/>
                </a:solidFill>
                <a:latin typeface="Calibri"/>
              </a:rPr>
              <a:t>a single manipulated photo cannot pass — it must survive four independent layers of verification.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1783080"/>
          <a:ext cx="52120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217920" y="5212080"/>
            <a:ext cx="5212080" cy="10058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300" b="1">
                <a:solidFill>
                  <a:srgbClr val="1B3A6B"/>
                </a:solidFill>
                <a:latin typeface="Calibri"/>
              </a:rPr>
              <a:t>91 of 128 works verified end-to-end</a:t>
            </a:r>
          </a:p>
          <a:p>
            <a:pPr algn="l"/>
            <a:r>
              <a:rPr sz="1200" b="0">
                <a:solidFill>
                  <a:srgbClr val="222B35"/>
                </a:solidFill>
                <a:latin typeface="Calibri"/>
              </a:rPr>
              <a:t>through the multi-layer pipeline — 71% pass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MARKET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Why Now — The GovTech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B3A6B"/>
                </a:solidFill>
                <a:latin typeface="Calibri"/>
              </a:rPr>
              <a:t>Digital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12264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Nationwide push for digital public services and e-governance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24911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79191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B3A6B"/>
                </a:solidFill>
                <a:latin typeface="Calibri"/>
              </a:rPr>
              <a:t>Smart Cities 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08375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100 cities, thousands of infrastructure projects needing monitoring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621023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3575303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B3A6B"/>
                </a:solidFill>
                <a:latin typeface="Calibri"/>
              </a:rPr>
              <a:t>Public Capex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04487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Massive annual infrastructure spending with limited verification tooling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517136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471416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B3A6B"/>
                </a:solidFill>
                <a:latin typeface="Calibri"/>
              </a:rPr>
              <a:t>Transparency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00600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Rising citizen expectations for accountability (RTI → digital verification)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413247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367527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1B3A6B"/>
                </a:solidFill>
                <a:latin typeface="Calibri"/>
              </a:rPr>
              <a:t>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96712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No mainstream platform fusing AI + GPS + timestamps + citizen feedback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126480" y="1783080"/>
          <a:ext cx="5349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126480" y="5120640"/>
            <a:ext cx="5349240" cy="1143000"/>
          </a:xfrm>
          <a:prstGeom prst="roundRect">
            <a:avLst/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300" b="1">
                <a:solidFill>
                  <a:srgbClr val="0E8A7D"/>
                </a:solidFill>
                <a:latin typeface="Calibri"/>
              </a:rPr>
              <a:t>Positioning:  </a:t>
            </a:r>
            <a:r>
              <a:rPr sz="1300" b="1">
                <a:solidFill>
                  <a:srgbClr val="1B3A6B"/>
                </a:solidFill>
                <a:latin typeface="Calibri"/>
              </a:rPr>
              <a:t>Verification-as-a-Service for municipalities and government departments.</a:t>
            </a:r>
          </a:p>
          <a:p>
            <a:pPr algn="l"/>
            <a:r>
              <a:rPr sz="1050" b="0">
                <a:solidFill>
                  <a:srgbClr val="5A6470"/>
                </a:solidFill>
                <a:latin typeface="Calibri"/>
              </a:rPr>
              <a:t>Chart figures are directional / illustrative.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UNIQUE SELLING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Not Just an AI Classifier — Multi-Layer Evidence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74519" y="1783080"/>
            <a:ext cx="2011680" cy="64008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Public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88920"/>
            <a:ext cx="1325880" cy="548640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207007" y="2441448"/>
            <a:ext cx="1673353" cy="32918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57400" y="2788920"/>
            <a:ext cx="1325880" cy="548640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GPS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715768" y="2441448"/>
            <a:ext cx="164592" cy="32918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788920"/>
            <a:ext cx="1325880" cy="548640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Timestamp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880360" y="2441448"/>
            <a:ext cx="1344168" cy="32918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63040" y="3703320"/>
            <a:ext cx="2834640" cy="594360"/>
          </a:xfrm>
          <a:prstGeom prst="roundRect">
            <a:avLst/>
          </a:prstGeom>
          <a:solidFill>
            <a:srgbClr val="3D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AI Analysis</a:t>
            </a: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207007" y="3355848"/>
            <a:ext cx="1508761" cy="32918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15768" y="3355848"/>
            <a:ext cx="164592" cy="32918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</p:cNvCxnSpPr>
          <p:nvPr/>
        </p:nvCxnSpPr>
        <p:spPr>
          <a:xfrm flipH="1">
            <a:off x="2947307" y="3355848"/>
            <a:ext cx="1277221" cy="32918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463040" y="4526280"/>
            <a:ext cx="2834640" cy="594360"/>
          </a:xfrm>
          <a:prstGeom prst="round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 dirty="0">
                <a:solidFill>
                  <a:srgbClr val="FFFFFF"/>
                </a:solidFill>
                <a:latin typeface="Calibri"/>
              </a:rPr>
              <a:t>Citizen </a:t>
            </a:r>
            <a:r>
              <a:rPr lang="en-IN" sz="1350" b="1" dirty="0" err="1">
                <a:solidFill>
                  <a:srgbClr val="FFFFFF"/>
                </a:solidFill>
                <a:latin typeface="Calibri"/>
              </a:rPr>
              <a:t>FeedBack</a:t>
            </a:r>
            <a:endParaRPr sz="1350" b="1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2880360" y="4315968"/>
            <a:ext cx="0" cy="19202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463040" y="5349240"/>
            <a:ext cx="2834640" cy="594360"/>
          </a:xfrm>
          <a:prstGeom prst="roundRect">
            <a:avLst/>
          </a:prstGeom>
          <a:solidFill>
            <a:srgbClr val="2EA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Final Status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880360" y="5138928"/>
            <a:ext cx="0" cy="192024"/>
          </a:xfrm>
          <a:prstGeom prst="line">
            <a:avLst/>
          </a:prstGeom>
          <a:ln w="25400">
            <a:solidFill>
              <a:srgbClr val="0E8A7D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806440" y="1783080"/>
            <a:ext cx="169164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79" y="1783080"/>
            <a:ext cx="1417320" cy="566928"/>
          </a:xfrm>
          <a:prstGeom prst="rect">
            <a:avLst/>
          </a:prstGeom>
          <a:solidFill>
            <a:srgbClr val="3D5A8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783080"/>
            <a:ext cx="1325880" cy="566928"/>
          </a:xfrm>
          <a:prstGeom prst="rect">
            <a:avLst/>
          </a:prstGeom>
          <a:solidFill>
            <a:srgbClr val="3D5A8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Single-AI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0" y="1783080"/>
            <a:ext cx="1950720" cy="576072"/>
          </a:xfrm>
          <a:prstGeom prst="rect">
            <a:avLst/>
          </a:prstGeom>
          <a:solidFill>
            <a:srgbClr val="1B3A6B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Proof-of-Work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2350008"/>
            <a:ext cx="169164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222B35"/>
                </a:solidFill>
                <a:latin typeface="Calibri"/>
              </a:rPr>
              <a:t>Location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2350008"/>
            <a:ext cx="141732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Site visits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400" y="2350008"/>
            <a:ext cx="132588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41280" y="2350008"/>
            <a:ext cx="1950720" cy="566928"/>
          </a:xfrm>
          <a:prstGeom prst="rect">
            <a:avLst/>
          </a:prstGeom>
          <a:solidFill>
            <a:srgbClr val="E9F4F1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E8A7D"/>
                </a:solidFill>
                <a:latin typeface="Calibri"/>
              </a:rPr>
              <a:t>✓ GPS radius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916936"/>
            <a:ext cx="16916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222B35"/>
                </a:solidFill>
                <a:latin typeface="Calibri"/>
              </a:rPr>
              <a:t>Time check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916936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Paperwork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916936"/>
            <a:ext cx="13258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41280" y="2916936"/>
            <a:ext cx="1950415" cy="566928"/>
          </a:xfrm>
          <a:prstGeom prst="rect">
            <a:avLst/>
          </a:prstGeom>
          <a:solidFill>
            <a:srgbClr val="E9F4F1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E8A7D"/>
                </a:solidFill>
                <a:latin typeface="Calibri"/>
              </a:rPr>
              <a:t>✓ Timestamps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06440" y="3483863"/>
            <a:ext cx="169164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222B35"/>
                </a:solidFill>
                <a:latin typeface="Calibri"/>
              </a:rPr>
              <a:t>Fraud detection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8079" y="3483863"/>
            <a:ext cx="141732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Limited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3483863"/>
            <a:ext cx="1325880" cy="566928"/>
          </a:xfrm>
          <a:prstGeom prst="rect">
            <a:avLst/>
          </a:prstGeom>
          <a:solidFill>
            <a:srgbClr val="F2F6FA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Partial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41280" y="3483863"/>
            <a:ext cx="1950720" cy="566928"/>
          </a:xfrm>
          <a:prstGeom prst="rect">
            <a:avLst/>
          </a:prstGeom>
          <a:solidFill>
            <a:srgbClr val="E9F4F1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E8A7D"/>
                </a:solidFill>
                <a:latin typeface="Calibri"/>
              </a:rPr>
              <a:t>✓ Duplicates + change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06440" y="4050791"/>
            <a:ext cx="16916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150" b="1">
                <a:solidFill>
                  <a:srgbClr val="222B35"/>
                </a:solidFill>
                <a:latin typeface="Calibri"/>
              </a:rPr>
              <a:t>Public trust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8079" y="4050791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Opaque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4050791"/>
            <a:ext cx="13258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0">
                <a:solidFill>
                  <a:srgbClr val="222B35"/>
                </a:solidFill>
                <a:latin typeface="Calibri"/>
              </a:rPr>
              <a:t>Opaque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41280" y="4050791"/>
            <a:ext cx="1950720" cy="566928"/>
          </a:xfrm>
          <a:prstGeom prst="rect">
            <a:avLst/>
          </a:prstGeom>
          <a:solidFill>
            <a:srgbClr val="E9F4F1"/>
          </a:solidFill>
          <a:ln w="15875">
            <a:solidFill>
              <a:srgbClr val="D8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E8A7D"/>
                </a:solidFill>
                <a:latin typeface="Calibri"/>
              </a:rPr>
              <a:t>✓ Citizen layer + dashboard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4192" y="6124447"/>
            <a:ext cx="10438856" cy="347472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“Proof-of-Work combines visual AI analysis, geolocation, timestamps, and citizen feedback into a multi-layer verification system for public infrastructure.”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One Complete Story,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09928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Admin registers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029967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Road Construction · Greater Noida · ₹20 lakh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450591"/>
            <a:ext cx="502920" cy="50292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42316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Evidence uploaded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43199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Before.jpg + After.jpg with GPS &amp; timestamp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163824"/>
            <a:ext cx="502920" cy="50292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36392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System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56432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GPS ✓ · Timestamp ✓ · Quality ✓ · Duplicate ✓ · AI Change ✓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877056"/>
            <a:ext cx="502920" cy="50292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849624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AI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169664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Verification score 91% → VERIFIED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590288"/>
            <a:ext cx="502920" cy="502920"/>
          </a:xfrm>
          <a:prstGeom prst="ellipse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562856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B3A6B"/>
                </a:solidFill>
                <a:latin typeface="Calibri"/>
              </a:rPr>
              <a:t>Citizen confirms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882896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5A6470"/>
                </a:solidFill>
                <a:latin typeface="Calibri"/>
              </a:rPr>
              <a:t>“Is this work completed?” → YES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8771" y="2227868"/>
            <a:ext cx="5129196" cy="2651760"/>
          </a:xfrm>
          <a:prstGeom prst="roundRect">
            <a:avLst/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ctr"/>
            <a:r>
              <a:rPr sz="1500" b="1" dirty="0">
                <a:solidFill>
                  <a:srgbClr val="7FE0A8"/>
                </a:solidFill>
                <a:latin typeface="Consolas"/>
              </a:rPr>
              <a:t>━━  PUBLIC WORK VERIFIED  ━━</a:t>
            </a:r>
          </a:p>
          <a:p>
            <a:pPr algn="ctr"/>
            <a:endParaRPr sz="1500" b="1" dirty="0">
              <a:solidFill>
                <a:srgbClr val="7FE0A8"/>
              </a:solidFill>
              <a:latin typeface="Consolas"/>
            </a:endParaRPr>
          </a:p>
          <a:p>
            <a:pPr algn="ctr"/>
            <a:r>
              <a:rPr sz="1300" b="0" dirty="0">
                <a:solidFill>
                  <a:srgbClr val="FFFFFF"/>
                </a:solidFill>
                <a:latin typeface="Consolas"/>
              </a:rPr>
              <a:t>AI Score  </a:t>
            </a:r>
            <a:r>
              <a:rPr lang="en-IN" sz="1300" b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dirty="0">
                <a:solidFill>
                  <a:srgbClr val="FFFFFF"/>
                </a:solidFill>
                <a:latin typeface="Consolas"/>
              </a:rPr>
              <a:t>      91%</a:t>
            </a:r>
          </a:p>
          <a:p>
            <a:pPr algn="ctr"/>
            <a:r>
              <a:rPr lang="en-IN" sz="1300" b="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300" b="0" dirty="0">
                <a:solidFill>
                  <a:srgbClr val="FFFFFF"/>
                </a:solidFill>
                <a:latin typeface="Consolas"/>
              </a:rPr>
              <a:t>GPS           PASS</a:t>
            </a:r>
          </a:p>
          <a:p>
            <a:pPr algn="ctr"/>
            <a:r>
              <a:rPr sz="1300" b="0" dirty="0">
                <a:solidFill>
                  <a:srgbClr val="FFFFFF"/>
                </a:solidFill>
                <a:latin typeface="Consolas"/>
              </a:rPr>
              <a:t>Timestamp   </a:t>
            </a:r>
            <a:r>
              <a:rPr lang="en-IN" sz="1300" b="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300" b="0" dirty="0">
                <a:solidFill>
                  <a:srgbClr val="FFFFFF"/>
                </a:solidFill>
                <a:latin typeface="Consolas"/>
              </a:rPr>
              <a:t>  PASS</a:t>
            </a:r>
            <a:endParaRPr lang="en-IN" sz="1300" b="0" dirty="0">
              <a:solidFill>
                <a:srgbClr val="FFFFFF"/>
              </a:solidFill>
              <a:latin typeface="Consolas"/>
            </a:endParaRPr>
          </a:p>
          <a:p>
            <a:pPr algn="ctr"/>
            <a:r>
              <a:rPr lang="en-IN" sz="1300" b="0" dirty="0">
                <a:solidFill>
                  <a:srgbClr val="FFFFFF"/>
                </a:solidFill>
                <a:latin typeface="Consolas"/>
              </a:rPr>
              <a:t>    </a:t>
            </a:r>
            <a:r>
              <a:rPr sz="1300" b="0" dirty="0">
                <a:solidFill>
                  <a:srgbClr val="FFFFFF"/>
                </a:solidFill>
                <a:latin typeface="Consolas"/>
              </a:rPr>
              <a:t>Citizen   </a:t>
            </a:r>
            <a:r>
              <a:rPr lang="en-IN" sz="1300" b="0" dirty="0">
                <a:solidFill>
                  <a:srgbClr val="FFFFFF"/>
                </a:solidFill>
                <a:latin typeface="Consolas"/>
              </a:rPr>
              <a:t>  </a:t>
            </a:r>
            <a:r>
              <a:rPr sz="1300" b="0" dirty="0">
                <a:solidFill>
                  <a:srgbClr val="FFFFFF"/>
                </a:solidFill>
                <a:latin typeface="Consolas"/>
              </a:rPr>
              <a:t>   </a:t>
            </a:r>
            <a:r>
              <a:rPr lang="en-IN" sz="1300" dirty="0">
                <a:solidFill>
                  <a:srgbClr val="FFFFFF"/>
                </a:solidFill>
                <a:latin typeface="Consolas"/>
              </a:rPr>
              <a:t>Feedback</a:t>
            </a:r>
            <a:endParaRPr sz="1300" b="0" dirty="0">
              <a:solidFill>
                <a:srgbClr val="FFFFFF"/>
              </a:solidFill>
              <a:latin typeface="Consolas"/>
            </a:endParaRPr>
          </a:p>
          <a:p>
            <a:pPr algn="ctr"/>
            <a:endParaRPr sz="1300" b="0" dirty="0">
              <a:solidFill>
                <a:srgbClr val="FFFFFF"/>
              </a:solidFill>
              <a:latin typeface="Consolas"/>
            </a:endParaRPr>
          </a:p>
          <a:p>
            <a:pPr algn="ctr"/>
            <a:r>
              <a:rPr sz="1500" b="1" dirty="0">
                <a:solidFill>
                  <a:srgbClr val="7FE0A8"/>
                </a:solidFill>
                <a:latin typeface="Consolas"/>
              </a:rPr>
              <a:t>FINAL STATUS:  VERIFIED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228E91-3781-A7C1-8609-D9C87ADF8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36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8FB12AC-663E-DCAD-63A6-5620315C1E93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6715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0FA233-261E-46D8-1770-EA8114167E7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08F7A2-F099-836E-6931-BCEE7E73BEB1}"/>
              </a:ext>
            </a:extLst>
          </p:cNvPr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9F7BA-CB30-F2FC-6C13-E43B7C90C000}"/>
              </a:ext>
            </a:extLst>
          </p:cNvPr>
          <p:cNvSpPr txBox="1"/>
          <p:nvPr/>
        </p:nvSpPr>
        <p:spPr>
          <a:xfrm>
            <a:off x="731520" y="413603"/>
            <a:ext cx="109728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3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Future Opportunities &amp; Business Potential</a:t>
            </a:r>
            <a:endParaRPr sz="3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11C398-8424-69C7-674F-1351E3F148E8}"/>
              </a:ext>
            </a:extLst>
          </p:cNvPr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6FB5EE-277B-BAD2-316C-D71E439B3903}"/>
              </a:ext>
            </a:extLst>
          </p:cNvPr>
          <p:cNvSpPr/>
          <p:nvPr/>
        </p:nvSpPr>
        <p:spPr>
          <a:xfrm>
            <a:off x="731520" y="1828800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6A29A-3F8A-668E-F3E8-B0EE27CCCE29}"/>
              </a:ext>
            </a:extLst>
          </p:cNvPr>
          <p:cNvSpPr txBox="1"/>
          <p:nvPr/>
        </p:nvSpPr>
        <p:spPr>
          <a:xfrm>
            <a:off x="1005840" y="1773823"/>
            <a:ext cx="4846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No Proof, No Payment</a:t>
            </a:r>
            <a:endParaRPr sz="1450" b="1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D36DF4-A31C-9D9D-CFAE-93A9871F1403}"/>
              </a:ext>
            </a:extLst>
          </p:cNvPr>
          <p:cNvSpPr txBox="1"/>
          <p:nvPr/>
        </p:nvSpPr>
        <p:spPr>
          <a:xfrm>
            <a:off x="1005840" y="2060411"/>
            <a:ext cx="533400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Government/authority releases payment only after required evidence is verified. </a:t>
            </a:r>
          </a:p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AI + GPS + timestamp + citizen validation create a stronger payment trigger.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72F5FE-A120-5C7F-6314-21421E870658}"/>
              </a:ext>
            </a:extLst>
          </p:cNvPr>
          <p:cNvSpPr/>
          <p:nvPr/>
        </p:nvSpPr>
        <p:spPr>
          <a:xfrm>
            <a:off x="731520" y="2724911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4B1429-1D99-ACEE-77C3-059D176AC4D9}"/>
              </a:ext>
            </a:extLst>
          </p:cNvPr>
          <p:cNvSpPr txBox="1"/>
          <p:nvPr/>
        </p:nvSpPr>
        <p:spPr>
          <a:xfrm>
            <a:off x="1005840" y="2669934"/>
            <a:ext cx="4846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Government &amp; Smart-City Adoption</a:t>
            </a:r>
            <a:endParaRPr lang="en-IN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90681B-071E-3FC3-0E85-A76EA4CEB887}"/>
              </a:ext>
            </a:extLst>
          </p:cNvPr>
          <p:cNvSpPr txBox="1"/>
          <p:nvPr/>
        </p:nvSpPr>
        <p:spPr>
          <a:xfrm>
            <a:off x="1005840" y="2963778"/>
            <a:ext cx="919951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Municipal corporations and public departments can use the platform to monitor roads, drainage, sanitation, streetlights and other infrastructure. </a:t>
            </a:r>
          </a:p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Central dashboard for tracking contractors and project progress.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6A0C12-EDD0-3124-5DB4-DAC267390F4E}"/>
              </a:ext>
            </a:extLst>
          </p:cNvPr>
          <p:cNvSpPr/>
          <p:nvPr/>
        </p:nvSpPr>
        <p:spPr>
          <a:xfrm>
            <a:off x="731520" y="3621023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281AED-8A26-8CBB-C499-453567282029}"/>
              </a:ext>
            </a:extLst>
          </p:cNvPr>
          <p:cNvSpPr txBox="1"/>
          <p:nvPr/>
        </p:nvSpPr>
        <p:spPr>
          <a:xfrm>
            <a:off x="1005840" y="3566046"/>
            <a:ext cx="4846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Contractor &amp; Tender Management</a:t>
            </a:r>
            <a:endParaRPr sz="1450" b="1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B09022-370D-1B7C-DCED-559EAC2B1C03}"/>
              </a:ext>
            </a:extLst>
          </p:cNvPr>
          <p:cNvSpPr txBox="1"/>
          <p:nvPr/>
        </p:nvSpPr>
        <p:spPr>
          <a:xfrm>
            <a:off x="1005840" y="3869043"/>
            <a:ext cx="48463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Verification history can become part of contractor performance records. </a:t>
            </a:r>
          </a:p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Better-performing contractors can build a verified track record.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5FFC09-C442-CD57-6285-F271AC2F1A34}"/>
              </a:ext>
            </a:extLst>
          </p:cNvPr>
          <p:cNvSpPr/>
          <p:nvPr/>
        </p:nvSpPr>
        <p:spPr>
          <a:xfrm>
            <a:off x="731520" y="4517136"/>
            <a:ext cx="128016" cy="658368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E4E25F-2605-B196-94C2-3209BA9B1C31}"/>
              </a:ext>
            </a:extLst>
          </p:cNvPr>
          <p:cNvSpPr txBox="1"/>
          <p:nvPr/>
        </p:nvSpPr>
        <p:spPr>
          <a:xfrm>
            <a:off x="1005840" y="4462159"/>
            <a:ext cx="4846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B2B / SaaS Opportunity</a:t>
            </a:r>
            <a:endParaRPr sz="1450" b="1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52793D9-3044-258E-EB58-B9F4C61AA458}"/>
              </a:ext>
            </a:extLst>
          </p:cNvPr>
          <p:cNvSpPr txBox="1"/>
          <p:nvPr/>
        </p:nvSpPr>
        <p:spPr>
          <a:xfrm>
            <a:off x="1005840" y="4761790"/>
            <a:ext cx="903623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Offer Proof-of-Work as a </a:t>
            </a:r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verification-as-a-service platform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to governments, infrastructure companies, NGOs and construction organizations.</a:t>
            </a:r>
            <a:br>
              <a:rPr lang="en-IN" sz="12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PIs can integrate verification directly into existing project-management systems.</a:t>
            </a:r>
            <a:endParaRPr sz="1150" b="0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A00C9D-C87D-E64E-0163-50BD411666E4}"/>
              </a:ext>
            </a:extLst>
          </p:cNvPr>
          <p:cNvSpPr/>
          <p:nvPr/>
        </p:nvSpPr>
        <p:spPr>
          <a:xfrm>
            <a:off x="731520" y="5516769"/>
            <a:ext cx="128016" cy="734457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98BF5C-E97A-D698-FA14-19AD6234F678}"/>
              </a:ext>
            </a:extLst>
          </p:cNvPr>
          <p:cNvSpPr txBox="1"/>
          <p:nvPr/>
        </p:nvSpPr>
        <p:spPr>
          <a:xfrm>
            <a:off x="1005840" y="5358270"/>
            <a:ext cx="484632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Future Revenue Opportunities</a:t>
            </a:r>
            <a:endParaRPr sz="1450" b="1" dirty="0">
              <a:solidFill>
                <a:schemeClr val="tx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8EC6A3-BA56-4633-17AA-9860E460DD0F}"/>
              </a:ext>
            </a:extLst>
          </p:cNvPr>
          <p:cNvSpPr txBox="1"/>
          <p:nvPr/>
        </p:nvSpPr>
        <p:spPr>
          <a:xfrm>
            <a:off x="1005840" y="5631080"/>
            <a:ext cx="48463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Per-project verification fee</a:t>
            </a:r>
            <a:br>
              <a:rPr lang="en-IN" sz="1200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Premium analytics &amp; reporting </a:t>
            </a:r>
          </a:p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Third-party inspection / audit integrations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68933D-C89F-EC1A-981B-A474BCE2A35E}"/>
              </a:ext>
            </a:extLst>
          </p:cNvPr>
          <p:cNvSpPr txBox="1"/>
          <p:nvPr/>
        </p:nvSpPr>
        <p:spPr>
          <a:xfrm>
            <a:off x="9784080" y="647395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A6470"/>
                </a:solidFill>
                <a:latin typeface="Calibri"/>
              </a:rPr>
              <a:t>Proof-of-Work  ·  07 / 10</a:t>
            </a:r>
          </a:p>
        </p:txBody>
      </p:sp>
    </p:spTree>
    <p:extLst>
      <p:ext uri="{BB962C8B-B14F-4D97-AF65-F5344CB8AC3E}">
        <p14:creationId xmlns:p14="http://schemas.microsoft.com/office/powerpoint/2010/main" val="270466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347472"/>
            <a:ext cx="82296" cy="713232"/>
          </a:xfrm>
          <a:prstGeom prst="rect">
            <a:avLst/>
          </a:prstGeom>
          <a:solidFill>
            <a:srgbClr val="0E8A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56032"/>
            <a:ext cx="10058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E8A7D"/>
                </a:solidFill>
                <a:latin typeface="Calibri"/>
              </a:rPr>
              <a:t>IMPACT &amp;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75488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B3A6B"/>
                </a:solidFill>
                <a:latin typeface="Calibri"/>
              </a:rPr>
              <a:t>From Hackathon MVP to National Infrastructure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744200" cy="20320"/>
          </a:xfrm>
          <a:prstGeom prst="rect">
            <a:avLst/>
          </a:prstGeom>
          <a:solidFill>
            <a:srgbClr val="D8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057400" cy="1234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/>
              <a:t>🏛️</a:t>
            </a:r>
          </a:p>
          <a:p>
            <a:pPr algn="ctr"/>
            <a:r>
              <a:rPr sz="1150" b="1">
                <a:solidFill>
                  <a:srgbClr val="1B3A6B"/>
                </a:solidFill>
                <a:latin typeface="Calibri"/>
              </a:rPr>
              <a:t>Transparent public spending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1783080"/>
            <a:ext cx="2057400" cy="1234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/>
              <a:t>🛡️</a:t>
            </a:r>
          </a:p>
          <a:p>
            <a:pPr algn="ctr"/>
            <a:r>
              <a:rPr sz="1150" b="1">
                <a:solidFill>
                  <a:srgbClr val="1B3A6B"/>
                </a:solidFill>
                <a:latin typeface="Calibri"/>
              </a:rPr>
              <a:t>Fraud reduction in completion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93792" y="1783080"/>
            <a:ext cx="2057400" cy="1234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/>
              <a:t>🤝</a:t>
            </a:r>
          </a:p>
          <a:p>
            <a:pPr algn="ctr"/>
            <a:r>
              <a:rPr sz="1150" b="1">
                <a:solidFill>
                  <a:srgbClr val="1B3A6B"/>
                </a:solidFill>
                <a:latin typeface="Calibri"/>
              </a:rPr>
              <a:t>Citizen trust &amp; participation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24927" y="1783080"/>
            <a:ext cx="2057400" cy="1234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/>
              <a:t>⚡</a:t>
            </a:r>
          </a:p>
          <a:p>
            <a:pPr algn="ctr"/>
            <a:r>
              <a:rPr sz="1150" b="1">
                <a:solidFill>
                  <a:srgbClr val="1B3A6B"/>
                </a:solidFill>
                <a:latin typeface="Calibri"/>
              </a:rPr>
              <a:t>Faster, cheaper audits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56063" y="1783080"/>
            <a:ext cx="2057400" cy="1234440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/>
              <a:t>📈</a:t>
            </a:r>
          </a:p>
          <a:p>
            <a:pPr algn="ctr"/>
            <a:r>
              <a:rPr sz="1150" b="1">
                <a:solidFill>
                  <a:srgbClr val="1B3A6B"/>
                </a:solidFill>
                <a:latin typeface="Calibri"/>
              </a:rPr>
              <a:t>Scalable across departments &amp; states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10744200" cy="868680"/>
          </a:xfrm>
          <a:prstGeom prst="roundRect">
            <a:avLst/>
          </a:prstGeom>
          <a:solidFill>
            <a:srgbClr val="E9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0E8A7D"/>
                </a:solidFill>
                <a:latin typeface="Calibri"/>
              </a:rPr>
              <a:t>Future scope:  </a:t>
            </a:r>
            <a:r>
              <a:rPr sz="1250" b="0">
                <a:solidFill>
                  <a:srgbClr val="222B35"/>
                </a:solidFill>
                <a:latin typeface="Calibri"/>
              </a:rPr>
              <a:t>Blockchain evidence anchoring · Satellite imagery · Government API integration · Mobile app · Real-time alerts · Automated complaint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4434840"/>
            <a:ext cx="9235440" cy="1051560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“Proof-of-Work turns public-work verification from a trust-based process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into an evidence-based, AI-assisted, and citizen-verified process.”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44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dirty="0">
                <a:solidFill>
                  <a:srgbClr val="0E8A7D"/>
                </a:solidFill>
                <a:latin typeface="Calibri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239440"/>
            <a:ext cx="107442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5A6470"/>
                </a:solidFill>
                <a:latin typeface="Calibri"/>
              </a:rPr>
              <a:t>Team: Utkarsh · Anjali · Sujal · S</a:t>
            </a:r>
            <a:r>
              <a:rPr lang="en-IN" sz="1200" b="0" dirty="0" err="1">
                <a:solidFill>
                  <a:srgbClr val="5A6470"/>
                </a:solidFill>
                <a:latin typeface="Calibri"/>
              </a:rPr>
              <a:t>arat</a:t>
            </a:r>
            <a:endParaRPr sz="1200" b="0" dirty="0">
              <a:solidFill>
                <a:srgbClr val="5A647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1115</Words>
  <Application>Microsoft Office PowerPoint</Application>
  <PresentationFormat>Widescreen</PresentationFormat>
  <Paragraphs>222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Sarat Banik</cp:lastModifiedBy>
  <cp:revision>18</cp:revision>
  <dcterms:created xsi:type="dcterms:W3CDTF">2013-01-27T09:14:16Z</dcterms:created>
  <dcterms:modified xsi:type="dcterms:W3CDTF">2026-08-23T04:48:18Z</dcterms:modified>
  <cp:category/>
</cp:coreProperties>
</file>